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731520"/>
            <a:ext cx="2011680" cy="2011680"/>
          </a:xfrm>
          <a:prstGeom prst="ellipse">
            <a:avLst/>
          </a:prstGeom>
          <a:solidFill>
            <a:srgbClr val="123753"/>
          </a:solidFill>
          <a:ln>
            <a:solidFill>
              <a:srgbClr val="1C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2011680"/>
            <a:ext cx="1280160" cy="1280160"/>
          </a:xfrm>
          <a:prstGeom prst="ellipse">
            <a:avLst/>
          </a:prstGeom>
          <a:solidFill>
            <a:srgbClr val="123753"/>
          </a:solidFill>
          <a:ln>
            <a:solidFill>
              <a:srgbClr val="1C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0" y="4480560"/>
            <a:ext cx="2468880" cy="2468880"/>
          </a:xfrm>
          <a:prstGeom prst="ellipse">
            <a:avLst/>
          </a:prstGeom>
          <a:solidFill>
            <a:srgbClr val="123753"/>
          </a:solidFill>
          <a:ln>
            <a:solidFill>
              <a:srgbClr val="1C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INDUSTRIAL ROBOT PERFORMANCE</a:t>
            </a:r>
          </a:p>
          <a:p>
            <a:pPr>
              <a:spcBef>
                <a:spcPts val="1000"/>
              </a:spcBef>
              <a:defRPr sz="2000">
                <a:solidFill>
                  <a:srgbClr val="B6DAE1"/>
                </a:solidFill>
                <a:latin typeface="Aptos"/>
              </a:defRPr>
            </a:pPr>
            <a:r>
              <a:t>Predictive Maintenance &amp; Operational Risk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7040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9688"/>
                </a:solidFill>
                <a:latin typeface="Aptos"/>
              </a:defRPr>
            </a:pPr>
            <a:r>
              <a:t>Power BI Capstone Project</a:t>
            </a:r>
          </a:p>
          <a:p>
            <a:pPr>
              <a:defRPr sz="1400">
                <a:solidFill>
                  <a:srgbClr val="D2DEE8"/>
                </a:solidFill>
                <a:latin typeface="Aptos"/>
              </a:defRPr>
            </a:pPr>
            <a:r>
              <a:t>From raw industrial data to executive decisions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00600"/>
            <a:ext cx="1828800" cy="731520"/>
          </a:xfrm>
          <a:prstGeom prst="roundRect">
            <a:avLst/>
          </a:prstGeom>
          <a:solidFill>
            <a:srgbClr val="14364F"/>
          </a:solidFill>
          <a:ln>
            <a:solidFill>
              <a:srgbClr val="2C5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4919472"/>
            <a:ext cx="16093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250</a:t>
            </a:r>
          </a:p>
          <a:p>
            <a:pPr>
              <a:defRPr sz="950">
                <a:solidFill>
                  <a:srgbClr val="B1CAD7"/>
                </a:solidFill>
                <a:latin typeface="Aptos"/>
              </a:defRPr>
            </a:pPr>
            <a:r>
              <a:t>Robots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4800600"/>
            <a:ext cx="1828800" cy="731520"/>
          </a:xfrm>
          <a:prstGeom prst="roundRect">
            <a:avLst/>
          </a:prstGeom>
          <a:solidFill>
            <a:srgbClr val="14364F"/>
          </a:solidFill>
          <a:ln>
            <a:solidFill>
              <a:srgbClr val="2C5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4919472"/>
            <a:ext cx="16093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2.9%</a:t>
            </a:r>
          </a:p>
          <a:p>
            <a:pPr>
              <a:defRPr sz="950">
                <a:solidFill>
                  <a:srgbClr val="B1CAD7"/>
                </a:solidFill>
                <a:latin typeface="Aptos"/>
              </a:defRPr>
            </a:pPr>
            <a:r>
              <a:t>Defect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4800600"/>
            <a:ext cx="1828800" cy="731520"/>
          </a:xfrm>
          <a:prstGeom prst="roundRect">
            <a:avLst/>
          </a:prstGeom>
          <a:solidFill>
            <a:srgbClr val="14364F"/>
          </a:solidFill>
          <a:ln>
            <a:solidFill>
              <a:srgbClr val="2C5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47488" y="4919472"/>
            <a:ext cx="16093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214M</a:t>
            </a:r>
          </a:p>
          <a:p>
            <a:pPr>
              <a:defRPr sz="950">
                <a:solidFill>
                  <a:srgbClr val="B1CAD7"/>
                </a:solidFill>
                <a:latin typeface="Aptos"/>
              </a:defRPr>
            </a:pPr>
            <a:r>
              <a:t>Maintenance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800600"/>
            <a:ext cx="1828800" cy="731520"/>
          </a:xfrm>
          <a:prstGeom prst="roundRect">
            <a:avLst/>
          </a:prstGeom>
          <a:solidFill>
            <a:srgbClr val="14364F"/>
          </a:solidFill>
          <a:ln>
            <a:solidFill>
              <a:srgbClr val="2C5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04888" y="4919472"/>
            <a:ext cx="16093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20.59K hrs</a:t>
            </a:r>
          </a:p>
          <a:p>
            <a:pPr>
              <a:defRPr sz="950">
                <a:solidFill>
                  <a:srgbClr val="B1CAD7"/>
                </a:solidFill>
                <a:latin typeface="Aptos"/>
              </a:defRPr>
            </a:pPr>
            <a:r>
              <a:t>Downtime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5B9C6"/>
                </a:solidFill>
                <a:latin typeface="Aptos"/>
              </a:defRPr>
            </a:pPr>
            <a:r>
              <a:t>Prepared for academic / capstone presentation •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33A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C6C7A"/>
                </a:solidFill>
                <a:latin typeface="Aptos"/>
              </a:defRPr>
            </a:pPr>
            <a:r>
              <a:t>WHAT • WHY •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A"/>
                </a:solidFill>
                <a:latin typeface="Aptos"/>
              </a:defRPr>
            </a:pPr>
            <a:r>
              <a:t>Industrial Robot Performance • Power BI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C7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960120"/>
            <a:ext cx="201168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WHAT IS THIS PROJECT?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53312"/>
            <a:ext cx="5257800" cy="1828800"/>
          </a:xfrm>
          <a:prstGeom prst="rect">
            <a:avLst/>
          </a:prstGeom>
          <a:noFill/>
        </p:spPr>
        <p:txBody>
          <a:bodyPr wrap="square" lIns="36576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50">
                <a:solidFill>
                  <a:srgbClr val="222B33"/>
                </a:solidFill>
                <a:latin typeface="Aptos"/>
              </a:defRPr>
            </a:pPr>
            <a:r>
              <a:t>• A Power BI analytics solution for monitoring industrial robot operations, health, maintenance and failure risk.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50">
                <a:solidFill>
                  <a:srgbClr val="222B33"/>
                </a:solidFill>
                <a:latin typeface="Aptos"/>
              </a:defRPr>
            </a:pPr>
            <a:r>
              <a:t>• Combines robot master data, sensor readings, production activity and maintenance history into one decision layer.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50">
                <a:solidFill>
                  <a:srgbClr val="222B33"/>
                </a:solidFill>
                <a:latin typeface="Aptos"/>
              </a:defRPr>
            </a:pPr>
            <a:r>
              <a:t>• Transforms operational records into KPIs, trends, risk categories and maintenance-priority insights.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60120"/>
            <a:ext cx="182880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WHY THIS PROJECT?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53312"/>
            <a:ext cx="5257800" cy="1828800"/>
          </a:xfrm>
          <a:prstGeom prst="rect">
            <a:avLst/>
          </a:prstGeom>
          <a:noFill/>
        </p:spPr>
        <p:txBody>
          <a:bodyPr wrap="square" lIns="36576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50">
                <a:solidFill>
                  <a:srgbClr val="222B33"/>
                </a:solidFill>
                <a:latin typeface="Aptos"/>
              </a:defRPr>
            </a:pPr>
            <a:r>
              <a:t>• Unplanned downtime can disrupt production and increase maintenance cost.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50">
                <a:solidFill>
                  <a:srgbClr val="222B33"/>
                </a:solidFill>
                <a:latin typeface="Aptos"/>
              </a:defRPr>
            </a:pPr>
            <a:r>
              <a:t>• Sensor conditions such as temperature, vibration and motor current can indicate deteriorating robot health.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50">
                <a:solidFill>
                  <a:srgbClr val="222B33"/>
                </a:solidFill>
                <a:latin typeface="Aptos"/>
              </a:defRPr>
            </a:pPr>
            <a:r>
              <a:t>• Managers need a single view to prioritize risky robot types, manufacturers and failure modes.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45547"/>
            <a:ext cx="182880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99" y="3611879"/>
            <a:ext cx="10972800" cy="1051560"/>
          </a:xfrm>
          <a:prstGeom prst="roundRect">
            <a:avLst/>
          </a:prstGeom>
          <a:solidFill>
            <a:srgbClr val="F7FAFC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599" y="3638166"/>
            <a:ext cx="54864" cy="1051560"/>
          </a:xfrm>
          <a:prstGeom prst="rect">
            <a:avLst/>
          </a:prstGeom>
          <a:solidFill>
            <a:srgbClr val="F5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3922776"/>
            <a:ext cx="79537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How can an organization use integrated operational and sensor data to identify unhealthy or high-risk robots,</a:t>
            </a:r>
            <a:endParaRPr lang="en-IN" dirty="0"/>
          </a:p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 understand the main causes of downtime and maintenance cost, and support proactive maintenance decisions?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52045"/>
            <a:ext cx="173736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rPr dirty="0"/>
              <a:t>PROJECT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0096"/>
            <a:ext cx="10972800" cy="822960"/>
          </a:xfrm>
          <a:prstGeom prst="rect">
            <a:avLst/>
          </a:prstGeom>
          <a:noFill/>
        </p:spPr>
        <p:txBody>
          <a:bodyPr wrap="square" lIns="36576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• Monitor production &amp; defect performance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• Measure robot health using sensor indicators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• Quantify downtime &amp; maintenance cost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• Identify high-risk robot groups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• Turn analysis into actionable maintenance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33A"/>
                </a:solidFill>
                <a:latin typeface="Aptos Display"/>
              </a:defRPr>
            </a:pPr>
            <a:r>
              <a:t>2. Dataset — Reference &amp;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C6C7A"/>
                </a:solidFill>
                <a:latin typeface="Aptos"/>
              </a:defRPr>
            </a:pPr>
            <a:r>
              <a:t>KAGGLE → CUSTOM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A"/>
                </a:solidFill>
                <a:latin typeface="Aptos"/>
              </a:defRPr>
            </a:pPr>
            <a:r>
              <a:t>Industrial Robot Performance • Power BI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C7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960120"/>
            <a:ext cx="164592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KAGGLE REFERENCE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5257800" cy="1733359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71600"/>
            <a:ext cx="64008" cy="1828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9047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Industrial Machine Predictive Maintenance (syn)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47088"/>
            <a:ext cx="49834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3"/>
                </a:solidFill>
                <a:latin typeface="Aptos"/>
              </a:defRPr>
            </a:pPr>
            <a:r>
              <a:t>Used as a reference for the predictive-maintenance feature design and industrial context. Its published features include vibration, motor temperature, current, RPM, ambient temperature, RUL, failure type and repair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8892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976D2"/>
                </a:solidFill>
                <a:latin typeface="Aptos"/>
              </a:defRPr>
            </a:pPr>
            <a:r>
              <a:t>Kaggle reference: kaggle.com/datasets/tatheerabbas/industrial-machine-predictive-maintenance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960120"/>
            <a:ext cx="1874519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OUR SYNTHETIC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5166360" cy="2011680"/>
          </a:xfrm>
          <a:prstGeom prst="rect">
            <a:avLst/>
          </a:prstGeom>
          <a:noFill/>
        </p:spPr>
        <p:txBody>
          <a:bodyPr wrap="square" lIns="36576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50">
                <a:solidFill>
                  <a:srgbClr val="222B33"/>
                </a:solidFill>
                <a:latin typeface="Aptos"/>
              </a:defRPr>
            </a:pPr>
            <a:r>
              <a:t>• We did not use the Kaggle dataset as the final dashboard dataset.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50">
                <a:solidFill>
                  <a:srgbClr val="222B33"/>
                </a:solidFill>
                <a:latin typeface="Aptos"/>
              </a:defRPr>
            </a:pPr>
            <a:r>
              <a:t>• A custom synthetic industrial-robot dataset was created to fit the project requirements and Power BI model.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50">
                <a:solidFill>
                  <a:srgbClr val="222B33"/>
                </a:solidFill>
                <a:latin typeface="Aptos"/>
              </a:defRPr>
            </a:pPr>
            <a:r>
              <a:t>• The final model is robot-centric: 250 robots, multiple robot types and manufacturers, time-based sensor/production/maintenance records.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50">
                <a:solidFill>
                  <a:srgbClr val="222B33"/>
                </a:solidFill>
                <a:latin typeface="Aptos"/>
              </a:defRPr>
            </a:pPr>
            <a:r>
              <a:t>• The synthetic structure was designed to support realistic relationships, risk scoring and business scenarios.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3698748"/>
            <a:ext cx="5166360" cy="851535"/>
          </a:xfrm>
          <a:prstGeom prst="roundRect">
            <a:avLst/>
          </a:prstGeom>
          <a:solidFill>
            <a:srgbClr val="F7FAFC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5352" y="3691319"/>
            <a:ext cx="54864" cy="851535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4" y="3712464"/>
            <a:ext cx="4896982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Why synthetic? It allowed us to control the number of robots,</a:t>
            </a:r>
            <a:endParaRPr lang="en-IN" dirty="0"/>
          </a:p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 operational events, failure types and business metrics while keeping</a:t>
            </a:r>
            <a:endParaRPr lang="en-IN" dirty="0"/>
          </a:p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 the project reproducible and safe for a capstone.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936" y="4156519"/>
            <a:ext cx="160020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3143"/>
            <a:ext cx="10972800" cy="777240"/>
          </a:xfrm>
          <a:prstGeom prst="rect">
            <a:avLst/>
          </a:prstGeom>
          <a:noFill/>
        </p:spPr>
        <p:txBody>
          <a:bodyPr wrap="square" lIns="36576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222B33"/>
                </a:solidFill>
                <a:latin typeface="Aptos"/>
              </a:defRPr>
            </a:pPr>
            <a:r>
              <a:rPr dirty="0"/>
              <a:t>• Reference real predictive-maintenance concepts → adapt to industrial robotics → generate consistent multi-table data → model in Power BI → build decision dashboards.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" y="5134927"/>
            <a:ext cx="100584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532120"/>
            <a:ext cx="2468880" cy="685800"/>
          </a:xfrm>
          <a:prstGeom prst="roundRect">
            <a:avLst/>
          </a:prstGeom>
          <a:solidFill>
            <a:srgbClr val="F2F6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5660136"/>
            <a:ext cx="2240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76D2"/>
                </a:solidFill>
                <a:latin typeface="Aptos"/>
              </a:defRPr>
            </a:pPr>
            <a:r>
              <a:t>250</a:t>
            </a:r>
          </a:p>
          <a:p>
            <a:pPr>
              <a:defRPr sz="900">
                <a:solidFill>
                  <a:srgbClr val="5C6C7A"/>
                </a:solidFill>
                <a:latin typeface="Aptos"/>
              </a:defRPr>
            </a:pPr>
            <a:r>
              <a:t>robots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5532120"/>
            <a:ext cx="2468880" cy="685800"/>
          </a:xfrm>
          <a:prstGeom prst="roundRect">
            <a:avLst/>
          </a:prstGeom>
          <a:solidFill>
            <a:srgbClr val="F2F6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84448" y="5605272"/>
            <a:ext cx="2240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9688"/>
                </a:solidFill>
                <a:latin typeface="Aptos"/>
              </a:defRPr>
            </a:pPr>
            <a:r>
              <a:t>2025–2026</a:t>
            </a:r>
          </a:p>
          <a:p>
            <a:pPr>
              <a:defRPr sz="900">
                <a:solidFill>
                  <a:srgbClr val="5C6C7A"/>
                </a:solidFill>
                <a:latin typeface="Aptos"/>
              </a:defRPr>
            </a:pPr>
            <a:r>
              <a:t>analysis period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5532120"/>
            <a:ext cx="2468880" cy="685800"/>
          </a:xfrm>
          <a:prstGeom prst="roundRect">
            <a:avLst/>
          </a:prstGeom>
          <a:solidFill>
            <a:srgbClr val="F2F6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3368" y="5605272"/>
            <a:ext cx="2240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8C2D"/>
                </a:solidFill>
                <a:latin typeface="Aptos"/>
              </a:defRPr>
            </a:pPr>
            <a:r>
              <a:t>4</a:t>
            </a:r>
          </a:p>
          <a:p>
            <a:pPr>
              <a:defRPr sz="900">
                <a:solidFill>
                  <a:srgbClr val="5C6C7A"/>
                </a:solidFill>
                <a:latin typeface="Aptos"/>
              </a:defRPr>
            </a:pPr>
            <a:r>
              <a:t>Excel fact/dimension files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59" y="5532120"/>
            <a:ext cx="2468880" cy="685800"/>
          </a:xfrm>
          <a:prstGeom prst="roundRect">
            <a:avLst/>
          </a:prstGeom>
          <a:solidFill>
            <a:srgbClr val="F2F6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62287" y="5605272"/>
            <a:ext cx="2240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D64343"/>
                </a:solidFill>
                <a:latin typeface="Aptos"/>
              </a:defRPr>
            </a:pPr>
            <a:r>
              <a:t>3</a:t>
            </a:r>
          </a:p>
          <a:p>
            <a:pPr>
              <a:defRPr sz="900">
                <a:solidFill>
                  <a:srgbClr val="5C6C7A"/>
                </a:solidFill>
                <a:latin typeface="Aptos"/>
              </a:defRPr>
            </a:pPr>
            <a:r>
              <a:t>dashboard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33A"/>
                </a:solidFill>
                <a:latin typeface="Aptos Display"/>
              </a:defRPr>
            </a:pPr>
            <a:r>
              <a:t>3. Dataset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C6C7A"/>
                </a:solidFill>
                <a:latin typeface="Aptos"/>
              </a:defRPr>
            </a:pPr>
            <a:r>
              <a:t>FOUR EXCEL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A"/>
                </a:solidFill>
                <a:latin typeface="Aptos"/>
              </a:defRPr>
            </a:pPr>
            <a:r>
              <a:t>Industrial Robot Performance • Power BI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C7A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051560"/>
          <a:ext cx="110185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Excel sheet</a:t>
                      </a:r>
                    </a:p>
                  </a:txBody>
                  <a:tcPr marL="64008" marR="45720" marT="36576" marB="36576">
                    <a:solidFill>
                      <a:srgbClr val="0C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64008" marR="45720" marT="36576" marB="36576">
                    <a:solidFill>
                      <a:srgbClr val="0C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fields / examples</a:t>
                      </a:r>
                    </a:p>
                  </a:txBody>
                  <a:tcPr marL="64008" marR="45720" marT="36576" marB="36576">
                    <a:solidFill>
                      <a:srgbClr val="0C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contributes</a:t>
                      </a:r>
                    </a:p>
                  </a:txBody>
                  <a:tcPr marL="64008" marR="45720" marT="36576" marB="36576">
                    <a:solidFill>
                      <a:srgbClr val="0C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Robot_Master.xlsx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Robot dimension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Robot_ID, Robot_Type, Manufacturer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One row per robot; core attributes used for grouping and filtering.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Sensor_Data.xlsx</a:t>
                      </a:r>
                    </a:p>
                  </a:txBody>
                  <a:tcPr marL="64008" marR="45720" marT="36576" marB="36576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Condition / sensor fact</a:t>
                      </a:r>
                    </a:p>
                  </a:txBody>
                  <a:tcPr marL="64008" marR="45720" marT="36576" marB="36576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Robot_ID, Date, Temperature, Vibration, Motor_Current, RPM, Torque, Energy_Consumption, Tool_Wear, Health_Score</a:t>
                      </a:r>
                    </a:p>
                  </a:txBody>
                  <a:tcPr marL="64008" marR="45720" marT="36576" marB="36576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Measures physical condition and robot health over time.</a:t>
                      </a:r>
                    </a:p>
                  </a:txBody>
                  <a:tcPr marL="64008" marR="45720" marT="36576" marB="36576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Production_Log.xlsx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Production fact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Robot_ID, Date, Units_Produced, Defects / production metrics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Measures throughput and quality performance.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Maintenance_Log.xlsx</a:t>
                      </a:r>
                    </a:p>
                  </a:txBody>
                  <a:tcPr marL="64008" marR="45720" marT="36576" marB="36576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Maintenance / failure fact</a:t>
                      </a:r>
                    </a:p>
                  </a:txBody>
                  <a:tcPr marL="64008" marR="45720" marT="36576" marB="36576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Robot_ID, Date, Maintenance_Type, Failure_Type, Cost, Downtime_Hours</a:t>
                      </a:r>
                    </a:p>
                  </a:txBody>
                  <a:tcPr marL="64008" marR="45720" marT="36576" marB="36576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22B33"/>
                          </a:solidFill>
                          <a:latin typeface="Aptos"/>
                        </a:defRPr>
                      </a:pPr>
                      <a:r>
                        <a:t>Explains maintenance activity, failure causes, cost and downtime.</a:t>
                      </a:r>
                    </a:p>
                  </a:txBody>
                  <a:tcPr marL="64008" marR="45720" marT="36576" marB="36576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94360" y="4800600"/>
            <a:ext cx="141732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DATASET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12080"/>
            <a:ext cx="3520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5212080"/>
            <a:ext cx="64008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533095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Robot dimension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6875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B33"/>
                </a:solidFill>
                <a:latin typeface="Aptos"/>
              </a:defRPr>
            </a:pPr>
            <a:r>
              <a:t>Defines the population of 250 robots and their type/manufacturer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5212080"/>
            <a:ext cx="3520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5968" y="5212080"/>
            <a:ext cx="64008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59" y="533095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Operational 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56875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B33"/>
                </a:solidFill>
                <a:latin typeface="Aptos"/>
              </a:defRPr>
            </a:pPr>
            <a:r>
              <a:t>Sensor + production + maintenance tables capture different business processes.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5212080"/>
            <a:ext cx="3520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91856" y="5212080"/>
            <a:ext cx="64008" cy="914400"/>
          </a:xfrm>
          <a:prstGeom prst="rect">
            <a:avLst/>
          </a:prstGeom>
          <a:solidFill>
            <a:srgbClr val="F5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56448" y="533095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Analytics-ready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56875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B33"/>
                </a:solidFill>
                <a:latin typeface="Aptos"/>
              </a:defRPr>
            </a:pPr>
            <a:r>
              <a:t>Common Robot_ID and Date fields make the tables suitable for Power BI relationships.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33A"/>
                </a:solidFill>
                <a:latin typeface="Aptos Display"/>
              </a:defRPr>
            </a:pPr>
            <a:r>
              <a:t>4. Dataset Overview — What the Data Lets Us 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C6C7A"/>
                </a:solidFill>
                <a:latin typeface="Aptos"/>
              </a:defRPr>
            </a:pPr>
            <a:r>
              <a:t>DATA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A"/>
                </a:solidFill>
                <a:latin typeface="Aptos"/>
              </a:defRPr>
            </a:pPr>
            <a:r>
              <a:t>Industrial Robot Performance • Power BI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C7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234440"/>
            <a:ext cx="64008" cy="19202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353312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Robot_Master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09928"/>
            <a:ext cx="5074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B33"/>
                </a:solidFill>
                <a:latin typeface="Aptos"/>
              </a:defRPr>
            </a:pPr>
            <a:r>
              <a:t>WHO / WHERE</a:t>
            </a:r>
            <a:br/>
            <a:br/>
            <a:r>
              <a:t>Robot type • manufacturer • robot identity</a:t>
            </a:r>
            <a:br/>
            <a:br/>
            <a:r>
              <a:t>Enables slicers and comparisons by robot group.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3444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234440"/>
            <a:ext cx="64008" cy="1920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353312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Sensor_Data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709928"/>
            <a:ext cx="5074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B33"/>
                </a:solidFill>
                <a:latin typeface="Aptos"/>
              </a:defRPr>
            </a:pPr>
            <a:r>
              <a:t>HOW HEALTHY?</a:t>
            </a:r>
            <a:br/>
            <a:br/>
            <a:r>
              <a:t>Temperature • vibration • current • RPM • torque • energy • tool wear • health</a:t>
            </a:r>
            <a:br/>
            <a:br/>
            <a:r>
              <a:t>Supports condition monitoring and health relationships.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64008" cy="1920240"/>
          </a:xfrm>
          <a:prstGeom prst="rect">
            <a:avLst/>
          </a:prstGeom>
          <a:solidFill>
            <a:srgbClr val="F5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3685032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Production_Log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041648"/>
            <a:ext cx="5074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B33"/>
                </a:solidFill>
                <a:latin typeface="Aptos"/>
              </a:defRPr>
            </a:pPr>
            <a:r>
              <a:t>HOW MUCH?</a:t>
            </a:r>
            <a:br/>
            <a:br/>
            <a:r>
              <a:t>Units produced • defects • date • robot</a:t>
            </a:r>
            <a:br/>
            <a:br/>
            <a:r>
              <a:t>Supports throughput and quality KPIs.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56616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566160"/>
            <a:ext cx="64008" cy="1920240"/>
          </a:xfrm>
          <a:prstGeom prst="rect">
            <a:avLst/>
          </a:prstGeom>
          <a:solidFill>
            <a:srgbClr val="D6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3685032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Maintenance_Log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041648"/>
            <a:ext cx="5074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B33"/>
                </a:solidFill>
                <a:latin typeface="Aptos"/>
              </a:defRPr>
            </a:pPr>
            <a:r>
              <a:t>WHAT WENT WRONG?</a:t>
            </a:r>
            <a:br/>
            <a:br/>
            <a:r>
              <a:t>Maintenance type • failure type • cost • downtime • date • robot</a:t>
            </a:r>
            <a:br/>
            <a:br/>
            <a:r>
              <a:t>Links failures to financial and operational impact.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7FAFC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5806440"/>
            <a:ext cx="54864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5907024"/>
            <a:ext cx="106527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t>The four tables create a complete business chain:  ROBOT → CONDITION → PRODUCTION → MAINTENANCE /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33A"/>
                </a:solidFill>
                <a:latin typeface="Aptos Display"/>
              </a:defRPr>
            </a:pPr>
            <a:r>
              <a:t>5. Power BI Data Model —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C6C7A"/>
                </a:solidFill>
                <a:latin typeface="Aptos"/>
              </a:defRPr>
            </a:pPr>
            <a:r>
              <a:t>1:*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A"/>
                </a:solidFill>
                <a:latin typeface="Aptos"/>
              </a:defRPr>
            </a:pPr>
            <a:r>
              <a:t>Industrial Robot Performance • Power BI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C7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5156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051560"/>
            <a:ext cx="365760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61688" y="1124712"/>
            <a:ext cx="34381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Robot_Master.xlsx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554480"/>
            <a:ext cx="34381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Robot_ID (key)</a:t>
            </a:r>
          </a:p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Robot_Type</a:t>
            </a:r>
          </a:p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Manufacturer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8328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383280"/>
            <a:ext cx="3200400" cy="38404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3456432"/>
            <a:ext cx="29809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Sensor_Data.xlsx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886200"/>
            <a:ext cx="298094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Robot_ID</a:t>
            </a:r>
          </a:p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Date</a:t>
            </a:r>
          </a:p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Sensor readings</a:t>
            </a:r>
          </a:p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Health_Score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38328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80560" y="3383280"/>
            <a:ext cx="3200400" cy="384048"/>
          </a:xfrm>
          <a:prstGeom prst="rect">
            <a:avLst/>
          </a:prstGeom>
          <a:solidFill>
            <a:srgbClr val="F5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3456432"/>
            <a:ext cx="29809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Production_Log.xlsx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886200"/>
            <a:ext cx="298094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Robot_ID</a:t>
            </a:r>
          </a:p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Date</a:t>
            </a:r>
          </a:p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Units / defects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38328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3383280"/>
            <a:ext cx="3200400" cy="384048"/>
          </a:xfrm>
          <a:prstGeom prst="rect">
            <a:avLst/>
          </a:prstGeom>
          <a:solidFill>
            <a:srgbClr val="D6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85048" y="3456432"/>
            <a:ext cx="29809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Maintenance_Log.xlsx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886200"/>
            <a:ext cx="298094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Robot_ID</a:t>
            </a:r>
          </a:p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Date</a:t>
            </a:r>
          </a:p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Failure / cost / downtime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5166360"/>
            <a:ext cx="3657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60" y="5166360"/>
            <a:ext cx="3657600" cy="384048"/>
          </a:xfrm>
          <a:prstGeom prst="rect">
            <a:avLst/>
          </a:prstGeom>
          <a:solidFill>
            <a:srgbClr val="0C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1688" y="5239512"/>
            <a:ext cx="34381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Date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566928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Date • Month • Quarter • Year</a:t>
            </a:r>
          </a:p>
          <a:p>
            <a:pPr>
              <a:spcAft>
                <a:spcPts val="300"/>
              </a:spcAft>
              <a:defRPr sz="1050">
                <a:solidFill>
                  <a:srgbClr val="222B33"/>
                </a:solidFill>
                <a:latin typeface="Aptos"/>
              </a:defRPr>
            </a:pPr>
            <a:r>
              <a:t>• Time intelligence / trends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286000" y="2286000"/>
            <a:ext cx="3794760" cy="1097280"/>
          </a:xfrm>
          <a:prstGeom prst="line">
            <a:avLst/>
          </a:prstGeom>
          <a:ln w="2286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771900" y="272491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C6C7A"/>
                </a:solidFill>
                <a:latin typeface="Aptos"/>
              </a:defRPr>
            </a:pPr>
            <a:r>
              <a:t>1:*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2286000"/>
            <a:ext cx="0" cy="1097280"/>
          </a:xfrm>
          <a:prstGeom prst="line">
            <a:avLst/>
          </a:prstGeom>
          <a:ln w="2286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0" y="272491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C6C7A"/>
                </a:solidFill>
                <a:latin typeface="Aptos"/>
              </a:defRPr>
            </a:pPr>
            <a:r>
              <a:t>1:*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80760" y="2286000"/>
            <a:ext cx="3749040" cy="1097280"/>
          </a:xfrm>
          <a:prstGeom prst="line">
            <a:avLst/>
          </a:prstGeom>
          <a:ln w="2286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543800" y="272491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C6C7A"/>
                </a:solidFill>
                <a:latin typeface="Aptos"/>
              </a:defRPr>
            </a:pPr>
            <a:r>
              <a:t>1:*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286000" y="4709160"/>
            <a:ext cx="3794760" cy="457200"/>
          </a:xfrm>
          <a:prstGeom prst="line">
            <a:avLst/>
          </a:prstGeom>
          <a:ln w="2286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71900" y="482803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C6C7A"/>
                </a:solidFill>
                <a:latin typeface="Aptos"/>
              </a:defRPr>
            </a:pPr>
            <a:r>
              <a:t>1:*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6080760" y="4709160"/>
            <a:ext cx="0" cy="457200"/>
          </a:xfrm>
          <a:prstGeom prst="line">
            <a:avLst/>
          </a:prstGeom>
          <a:ln w="2286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0" y="482803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C6C7A"/>
                </a:solidFill>
                <a:latin typeface="Aptos"/>
              </a:defRPr>
            </a:pPr>
            <a:r>
              <a:t>1:*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6080760" y="4709160"/>
            <a:ext cx="3749040" cy="457200"/>
          </a:xfrm>
          <a:prstGeom prst="line">
            <a:avLst/>
          </a:prstGeom>
          <a:ln w="2286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543800" y="482803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C6C7A"/>
                </a:solidFill>
                <a:latin typeface="Aptos"/>
              </a:defRPr>
            </a:pPr>
            <a:r>
              <a:t>1:*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2331720"/>
            <a:ext cx="10744200" cy="658368"/>
          </a:xfrm>
          <a:prstGeom prst="roundRect">
            <a:avLst/>
          </a:prstGeom>
          <a:solidFill>
            <a:srgbClr val="F7FAFC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85800" y="2331720"/>
            <a:ext cx="54864" cy="6583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" y="2432303"/>
            <a:ext cx="1051560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t>Risk_Category is a helper/disconnected category table used to drive the High / Medium / Low risk distribution visual; it is not a transactional fact table.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6143053"/>
            <a:ext cx="182880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RELATIONSHIPS IMPLEMENTED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33A"/>
                </a:solidFill>
                <a:latin typeface="Aptos Display"/>
              </a:defRPr>
            </a:pPr>
            <a:r>
              <a:t>6. Measures &amp; Risk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C6C7A"/>
                </a:solidFill>
                <a:latin typeface="Aptos"/>
              </a:defRPr>
            </a:pPr>
            <a:r>
              <a:t>ONLY THE DASHBOARD-CRITICAL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A"/>
                </a:solidFill>
                <a:latin typeface="Aptos"/>
              </a:defRPr>
            </a:pPr>
            <a:r>
              <a:t>Industrial Robot Performance • Power BI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C7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960120"/>
            <a:ext cx="192024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CORE OPERATIONAL MEASURES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5166360" cy="3383280"/>
          </a:xfrm>
          <a:prstGeom prst="rect">
            <a:avLst/>
          </a:prstGeom>
          <a:noFill/>
        </p:spPr>
        <p:txBody>
          <a:bodyPr wrap="square" lIns="36576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20">
                <a:solidFill>
                  <a:srgbClr val="222B33"/>
                </a:solidFill>
                <a:latin typeface="Aptos"/>
              </a:defRPr>
            </a:pPr>
            <a:r>
              <a:t>• Total Robots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20">
                <a:solidFill>
                  <a:srgbClr val="222B33"/>
                </a:solidFill>
                <a:latin typeface="Aptos"/>
              </a:defRPr>
            </a:pPr>
            <a:r>
              <a:t>• Total Units Produced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20">
                <a:solidFill>
                  <a:srgbClr val="222B33"/>
                </a:solidFill>
                <a:latin typeface="Aptos"/>
              </a:defRPr>
            </a:pPr>
            <a:r>
              <a:t>• Defect Rate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20">
                <a:solidFill>
                  <a:srgbClr val="222B33"/>
                </a:solidFill>
                <a:latin typeface="Aptos"/>
              </a:defRPr>
            </a:pPr>
            <a:r>
              <a:t>• Average Health Score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20">
                <a:solidFill>
                  <a:srgbClr val="222B33"/>
                </a:solidFill>
                <a:latin typeface="Aptos"/>
              </a:defRPr>
            </a:pPr>
            <a:r>
              <a:t>• Average Temperature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20">
                <a:solidFill>
                  <a:srgbClr val="222B33"/>
                </a:solidFill>
                <a:latin typeface="Aptos"/>
              </a:defRPr>
            </a:pPr>
            <a:r>
              <a:t>• Average Vibration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20">
                <a:solidFill>
                  <a:srgbClr val="222B33"/>
                </a:solidFill>
                <a:latin typeface="Aptos"/>
              </a:defRPr>
            </a:pPr>
            <a:r>
              <a:t>• Average Motor Current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60120"/>
            <a:ext cx="214884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RISK &amp; MAINTENANCE MEASURES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53312"/>
            <a:ext cx="5166360" cy="3383280"/>
          </a:xfrm>
          <a:prstGeom prst="rect">
            <a:avLst/>
          </a:prstGeom>
          <a:noFill/>
        </p:spPr>
        <p:txBody>
          <a:bodyPr wrap="square" lIns="36576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20">
                <a:solidFill>
                  <a:srgbClr val="222B33"/>
                </a:solidFill>
                <a:latin typeface="Aptos"/>
              </a:defRPr>
            </a:pPr>
            <a:r>
              <a:t>• Total Maintenance Cost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20">
                <a:solidFill>
                  <a:srgbClr val="222B33"/>
                </a:solidFill>
                <a:latin typeface="Aptos"/>
              </a:defRPr>
            </a:pPr>
            <a:r>
              <a:t>• Total Downtime Hours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20">
                <a:solidFill>
                  <a:srgbClr val="222B33"/>
                </a:solidFill>
                <a:latin typeface="Aptos"/>
              </a:defRPr>
            </a:pPr>
            <a:r>
              <a:t>• Average Risk Score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20">
                <a:solidFill>
                  <a:srgbClr val="222B33"/>
                </a:solidFill>
                <a:latin typeface="Aptos"/>
              </a:defRPr>
            </a:pPr>
            <a:r>
              <a:t>• High-Risk Robot Count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20">
                <a:solidFill>
                  <a:srgbClr val="222B33"/>
                </a:solidFill>
                <a:latin typeface="Aptos"/>
              </a:defRPr>
            </a:pPr>
            <a:r>
              <a:t>• Robots by Risk Category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20">
                <a:solidFill>
                  <a:srgbClr val="222B33"/>
                </a:solidFill>
                <a:latin typeface="Aptos"/>
              </a:defRPr>
            </a:pPr>
            <a:r>
              <a:t>• Average Risk Score by Robot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07917"/>
            <a:ext cx="114300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rPr dirty="0"/>
              <a:t>RISK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47972"/>
            <a:ext cx="10789920" cy="960120"/>
          </a:xfrm>
          <a:prstGeom prst="roundRect">
            <a:avLst/>
          </a:prstGeom>
          <a:solidFill>
            <a:srgbClr val="F7FAFC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8944" y="4413980"/>
            <a:ext cx="108203" cy="880682"/>
          </a:xfrm>
          <a:prstGeom prst="rect">
            <a:avLst/>
          </a:prstGeom>
          <a:solidFill>
            <a:srgbClr val="D6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720" y="4480752"/>
            <a:ext cx="8121454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Robot Risk Score is a composite robot-level indicator built from the project's health / operational risk logic. </a:t>
            </a:r>
            <a:endParaRPr lang="en-IN" dirty="0"/>
          </a:p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The score is translated into High, Medium and Low risk categories for management reporting. </a:t>
            </a:r>
            <a:endParaRPr lang="en-IN" dirty="0"/>
          </a:p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The dashboard uses the resulting score and category measures rather than exposing every intermediate calculation.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" y="6135624"/>
            <a:ext cx="10789920" cy="329184"/>
          </a:xfrm>
          <a:prstGeom prst="roundRect">
            <a:avLst/>
          </a:prstGeom>
          <a:solidFill>
            <a:srgbClr val="F7FAFC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6128194"/>
            <a:ext cx="54864" cy="32918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339" y="6184773"/>
            <a:ext cx="10561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Verified dashboard totals: 250 robots • 14M units produced • 2.9% defect rate • 47.35 average health • 214M maintenance cost • 20.59K downtime hours.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33A"/>
                </a:solidFill>
                <a:latin typeface="Aptos Display"/>
              </a:defRPr>
            </a:pPr>
            <a:r>
              <a:t>7. Dashboard Page 1 — 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C6C7A"/>
                </a:solidFill>
                <a:latin typeface="Aptos"/>
              </a:defRPr>
            </a:pPr>
            <a:r>
              <a:t>Executive decision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A"/>
                </a:solidFill>
                <a:latin typeface="Aptos"/>
              </a:defRPr>
            </a:pPr>
            <a:r>
              <a:t>Industrial Robot Performance • Power BI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C7A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10" name="Picture 9" descr="page1_dashbo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929830"/>
            <a:ext cx="7726679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49640" y="960120"/>
            <a:ext cx="228600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WHAT THIS PAGE SIGNIFIES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353312"/>
            <a:ext cx="2971800" cy="2880360"/>
          </a:xfrm>
          <a:prstGeom prst="rect">
            <a:avLst/>
          </a:prstGeom>
          <a:noFill/>
        </p:spPr>
        <p:txBody>
          <a:bodyPr wrap="square" lIns="36576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Shows the overall operating picture: robot population, production, defect rate, average health, maintenance cost and downtime.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Trend visuals show how production and maintenance cost move over time.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Treemap / bar views expose where maintenance cost is concentrated across maintenance types and robot types.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Business purpose: give management a fast answer to 'How are operations performing and where is cost concentrated?'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343400"/>
            <a:ext cx="205740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KEY BUSINESS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709160"/>
            <a:ext cx="2971800" cy="1417320"/>
          </a:xfrm>
          <a:prstGeom prst="rect">
            <a:avLst/>
          </a:prstGeom>
          <a:noFill/>
        </p:spPr>
        <p:txBody>
          <a:bodyPr wrap="square" lIns="36576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80">
                <a:solidFill>
                  <a:srgbClr val="222B33"/>
                </a:solidFill>
                <a:latin typeface="Aptos"/>
              </a:defRPr>
            </a:pPr>
            <a:r>
              <a:t>• Assembly has the highest maintenance cost among robot types.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080">
                <a:solidFill>
                  <a:srgbClr val="222B33"/>
                </a:solidFill>
                <a:latin typeface="Aptos"/>
              </a:defRPr>
            </a:pPr>
            <a:r>
              <a:t>• Total maintenance cost is 214M while total downtime is 20.59K hours.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080">
                <a:solidFill>
                  <a:srgbClr val="222B33"/>
                </a:solidFill>
                <a:latin typeface="Aptos"/>
              </a:defRPr>
            </a:pPr>
            <a:r>
              <a:t>• The dashboard combines production, quality, health and maintenance in one executive 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468112"/>
            <a:ext cx="7726679" cy="658368"/>
          </a:xfrm>
          <a:prstGeom prst="roundRect">
            <a:avLst/>
          </a:prstGeom>
          <a:solidFill>
            <a:srgbClr val="F7FAFC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5468112"/>
            <a:ext cx="54864" cy="65836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5568696"/>
            <a:ext cx="720248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Executive takeaway: use this page to spot performance changes and cost concentration before drilling </a:t>
            </a:r>
            <a:endParaRPr lang="en-IN" dirty="0"/>
          </a:p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into robot condition or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33A"/>
                </a:solidFill>
                <a:latin typeface="Aptos Display"/>
              </a:defRPr>
            </a:pPr>
            <a:r>
              <a:t>8. Dashboard Page 2 — Robot Health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C6C7A"/>
                </a:solidFill>
                <a:latin typeface="Aptos"/>
              </a:defRPr>
            </a:pPr>
            <a:r>
              <a:t>Condition monitoring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A"/>
                </a:solidFill>
                <a:latin typeface="Aptos"/>
              </a:defRPr>
            </a:pPr>
            <a:r>
              <a:t>Industrial Robot Performance • Power BI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C7A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10" name="Picture 9" descr="page2_dashbo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045845"/>
            <a:ext cx="7726679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49640" y="960120"/>
            <a:ext cx="228600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WHAT THIS PAGE SIGNIFIES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353312"/>
            <a:ext cx="2971800" cy="2880360"/>
          </a:xfrm>
          <a:prstGeom prst="rect">
            <a:avLst/>
          </a:prstGeom>
          <a:noFill/>
        </p:spPr>
        <p:txBody>
          <a:bodyPr wrap="square" lIns="36576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Focuses on robot health and the sensor signals that move with it.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Health-by-robot-type compares condition across robot groups.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Temperature, vibration and motor-current scatter plots show their relationship with robot health; trend lines make the direction of association easier to read.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The bottom-10 health view highlights robots requiring closer inspection.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The funnel summarizes the population by High / Medium / Low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343400"/>
            <a:ext cx="205740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KEY BUSINESS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709160"/>
            <a:ext cx="2971800" cy="1417320"/>
          </a:xfrm>
          <a:prstGeom prst="rect">
            <a:avLst/>
          </a:prstGeom>
          <a:noFill/>
        </p:spPr>
        <p:txBody>
          <a:bodyPr wrap="square" lIns="36576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80">
                <a:solidFill>
                  <a:srgbClr val="222B33"/>
                </a:solidFill>
                <a:latin typeface="Aptos"/>
              </a:defRPr>
            </a:pPr>
            <a:r>
              <a:t>• Average health score = 47.35.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080">
                <a:solidFill>
                  <a:srgbClr val="222B33"/>
                </a:solidFill>
                <a:latin typeface="Aptos"/>
              </a:defRPr>
            </a:pPr>
            <a:r>
              <a:t>• Robot 228 has the lowest average health score at 43.63.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080">
                <a:solidFill>
                  <a:srgbClr val="222B33"/>
                </a:solidFill>
                <a:latin typeface="Aptos"/>
              </a:defRPr>
            </a:pPr>
            <a:r>
              <a:t>• The risk funnel shows 121 High Risk, 116 Low Risk and 13 Medium Risk robots.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468112"/>
            <a:ext cx="7726679" cy="658368"/>
          </a:xfrm>
          <a:prstGeom prst="roundRect">
            <a:avLst/>
          </a:prstGeom>
          <a:solidFill>
            <a:srgbClr val="F7FAFC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5468112"/>
            <a:ext cx="54864" cy="6583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5568696"/>
            <a:ext cx="763247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Health takeaway: sensor behavior and robot-level health identify where condition monitoring should become</a:t>
            </a:r>
            <a:endParaRPr lang="en-IN" dirty="0"/>
          </a:p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 more proactive.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33A"/>
                </a:solidFill>
                <a:latin typeface="Aptos Display"/>
              </a:defRPr>
            </a:pPr>
            <a:r>
              <a:t>9. Dashboard Page 3 — Risk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C6C7A"/>
                </a:solidFill>
                <a:latin typeface="Aptos"/>
              </a:defRPr>
            </a:pPr>
            <a:r>
              <a:t>Risk-to-maintenance decision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A"/>
                </a:solidFill>
                <a:latin typeface="Aptos"/>
              </a:defRPr>
            </a:pPr>
            <a:r>
              <a:t>Industrial Robot Performance • Power BI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C7A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0" name="Picture 9" descr="page3_dashbo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024128"/>
            <a:ext cx="7726679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49640" y="960120"/>
            <a:ext cx="228600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WHAT THIS PAGE SIGNIFIES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353312"/>
            <a:ext cx="2971800" cy="2880360"/>
          </a:xfrm>
          <a:prstGeom prst="rect">
            <a:avLst/>
          </a:prstGeom>
          <a:noFill/>
        </p:spPr>
        <p:txBody>
          <a:bodyPr wrap="square" lIns="36576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Combines risk concentration, failure impact, downtime and maintenance cost.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Risk distribution shows the size of each risk category.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Robot-type and manufacturer views identify where high-risk robots are concentrated.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Failure-type treemaps and cost bars connect reliability problems to operational and financial impact.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222B33"/>
                </a:solidFill>
                <a:latin typeface="Aptos"/>
              </a:defRPr>
            </a:pPr>
            <a:r>
              <a:t>• Average risk by robot type helps prioritize groups rather than only individual machines.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343400"/>
            <a:ext cx="2057400" cy="329184"/>
          </a:xfrm>
          <a:prstGeom prst="roundRect">
            <a:avLst/>
          </a:prstGeom>
          <a:solidFill>
            <a:srgbClr val="F2F6F9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976D2"/>
                </a:solidFill>
                <a:latin typeface="Aptos"/>
              </a:defRPr>
            </a:pPr>
            <a:r>
              <a:t>KEY BUSINESS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709160"/>
            <a:ext cx="2971800" cy="1417320"/>
          </a:xfrm>
          <a:prstGeom prst="rect">
            <a:avLst/>
          </a:prstGeom>
          <a:noFill/>
        </p:spPr>
        <p:txBody>
          <a:bodyPr wrap="square" lIns="36576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80">
                <a:solidFill>
                  <a:srgbClr val="222B33"/>
                </a:solidFill>
                <a:latin typeface="Aptos"/>
              </a:defRPr>
            </a:pPr>
            <a:r>
              <a:t>• Packaging has the highest high-risk robot count: 100.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080">
                <a:solidFill>
                  <a:srgbClr val="222B33"/>
                </a:solidFill>
                <a:latin typeface="Aptos"/>
              </a:defRPr>
            </a:pPr>
            <a:r>
              <a:t>• Yaskawa has the highest absolute high-risk robot count: 27.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080">
                <a:solidFill>
                  <a:srgbClr val="222B33"/>
                </a:solidFill>
                <a:latin typeface="Aptos"/>
              </a:defRPr>
            </a:pPr>
            <a:r>
              <a:t>• Servo motor failure is the largest downtime driver: 218,542 hours, and also the largest maintenance-cost driver: 36,839,873.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080">
                <a:solidFill>
                  <a:srgbClr val="222B33"/>
                </a:solidFill>
                <a:latin typeface="Aptos"/>
              </a:defRPr>
            </a:pPr>
            <a:r>
              <a:t>• Robot 210 is #1 for downtime (8,842 hours) and maintenance cost (155,189).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468112"/>
            <a:ext cx="7726679" cy="658368"/>
          </a:xfrm>
          <a:prstGeom prst="roundRect">
            <a:avLst/>
          </a:prstGeom>
          <a:solidFill>
            <a:srgbClr val="F7FAFC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5468112"/>
            <a:ext cx="54864" cy="658368"/>
          </a:xfrm>
          <a:prstGeom prst="rect">
            <a:avLst/>
          </a:prstGeom>
          <a:solidFill>
            <a:srgbClr val="D6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5568696"/>
            <a:ext cx="720190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Risk takeaway: prioritize maintenance where high risk, downtime and cost overlap — especially failure </a:t>
            </a:r>
            <a:endParaRPr lang="en-IN" dirty="0"/>
          </a:p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modes and robot groups.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33A"/>
                </a:solidFill>
                <a:latin typeface="Aptos Display"/>
              </a:defRPr>
            </a:pPr>
            <a:r>
              <a:t>10. What Can Be Improved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C6C7A"/>
                </a:solidFill>
                <a:latin typeface="Aptos"/>
              </a:defRPr>
            </a:pPr>
            <a:r>
              <a:t>NEXT ITERATION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A"/>
                </a:solidFill>
                <a:latin typeface="Aptos"/>
              </a:defRPr>
            </a:pPr>
            <a:r>
              <a:t>Industrial Robot Performance • Power BI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C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9728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097280"/>
            <a:ext cx="64008" cy="13258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21615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Real-time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572768"/>
            <a:ext cx="49834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B33"/>
                </a:solidFill>
                <a:latin typeface="Aptos"/>
              </a:defRPr>
            </a:pPr>
            <a:r>
              <a:t>Connect the model to streaming / near-real-time sensor feeds so risk can be monitored continuously.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09728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097280"/>
            <a:ext cx="64008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21615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Predictive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572768"/>
            <a:ext cx="49834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B33"/>
                </a:solidFill>
                <a:latin typeface="Aptos"/>
              </a:defRPr>
            </a:pPr>
            <a:r>
              <a:t>Train a failure / RUL model using historical sensor and maintenance data instead of relying only on a rule-based risk score.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24912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724912"/>
            <a:ext cx="64008" cy="1325880"/>
          </a:xfrm>
          <a:prstGeom prst="rect">
            <a:avLst/>
          </a:prstGeom>
          <a:solidFill>
            <a:srgbClr val="F5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2843784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Maintenance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200400"/>
            <a:ext cx="49834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B33"/>
                </a:solidFill>
                <a:latin typeface="Aptos"/>
              </a:defRPr>
            </a:pPr>
            <a:r>
              <a:t>Add maintenance scheduling, spare-parts availability and technician capacity to move from diagnosis to optimized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724912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724912"/>
            <a:ext cx="64008" cy="1325880"/>
          </a:xfrm>
          <a:prstGeom prst="rect">
            <a:avLst/>
          </a:prstGeom>
          <a:solidFill>
            <a:srgbClr val="D6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2843784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Alerting &amp;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200400"/>
            <a:ext cx="49834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B33"/>
                </a:solidFill>
                <a:latin typeface="Aptos"/>
              </a:defRPr>
            </a:pPr>
            <a:r>
              <a:t>Trigger alerts when risk crosses a threshold and integrate Power BI with operational workflows.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52544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4352544"/>
            <a:ext cx="64008" cy="1325880"/>
          </a:xfrm>
          <a:prstGeom prst="rect">
            <a:avLst/>
          </a:prstGeom>
          <a:solidFill>
            <a:srgbClr val="0C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1" y="4471416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Data realism &amp;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4828031"/>
            <a:ext cx="49834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B33"/>
                </a:solidFill>
                <a:latin typeface="Aptos"/>
              </a:defRPr>
            </a:pPr>
            <a:r>
              <a:t>Replace synthetic records with governed plant data; add validation rules, missing-data handling and lineage.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352544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4352544"/>
            <a:ext cx="64008" cy="1325880"/>
          </a:xfrm>
          <a:prstGeom prst="rect">
            <a:avLst/>
          </a:prstGeom>
          <a:solidFill>
            <a:srgbClr val="36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28232" y="4471416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233A"/>
                </a:solidFill>
                <a:latin typeface="Aptos"/>
              </a:defRPr>
            </a:pPr>
            <a:r>
              <a:t>ROI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828031"/>
            <a:ext cx="49834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B33"/>
                </a:solidFill>
                <a:latin typeface="Aptos"/>
              </a:defRPr>
            </a:pPr>
            <a:r>
              <a:t>Add avoided downtime, avoided cost and maintenance ROI KPIs to quantify business value after interventions.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6086898"/>
            <a:ext cx="10881360" cy="423630"/>
          </a:xfrm>
          <a:prstGeom prst="roundRect">
            <a:avLst/>
          </a:prstGeom>
          <a:solidFill>
            <a:srgbClr val="F7FAFC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" y="6126480"/>
            <a:ext cx="54864" cy="38404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" y="6098899"/>
            <a:ext cx="1026986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The current dashboard is a strong decision-support prototype. The next maturity step is to connect it to live data, predictive models and closed-loop</a:t>
            </a:r>
            <a:endParaRPr lang="en-IN" dirty="0"/>
          </a:p>
          <a:p>
            <a:pPr>
              <a:defRPr sz="1250">
                <a:solidFill>
                  <a:srgbClr val="222B33"/>
                </a:solidFill>
                <a:latin typeface="Aptos"/>
              </a:defRPr>
            </a:pPr>
            <a:r>
              <a:rPr dirty="0"/>
              <a:t> maintenance 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1560" y="1051560"/>
            <a:ext cx="10058400" cy="4663440"/>
          </a:xfrm>
          <a:prstGeom prst="roundRect">
            <a:avLst/>
          </a:prstGeom>
          <a:solidFill>
            <a:srgbClr val="103149"/>
          </a:solidFill>
          <a:ln>
            <a:solidFill>
              <a:srgbClr val="265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76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788920"/>
            <a:ext cx="9144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09688"/>
                </a:solidFill>
                <a:latin typeface="Aptos"/>
              </a:defRPr>
            </a:pPr>
            <a:r>
              <a:t>Industrial Robot Performance</a:t>
            </a:r>
          </a:p>
          <a:p>
            <a:pPr algn="ctr">
              <a:defRPr sz="1500">
                <a:solidFill>
                  <a:srgbClr val="BED6E1"/>
                </a:solidFill>
                <a:latin typeface="Aptos"/>
              </a:defRPr>
            </a:pPr>
            <a:r>
              <a:t>Predictive Maintenance &amp; Operational Risk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251960"/>
            <a:ext cx="8321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4005</TotalTime>
  <Words>1808</Words>
  <Application>Microsoft Office PowerPoint</Application>
  <PresentationFormat>Widescreen</PresentationFormat>
  <Paragraphs>231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g.hussain.rcr@outlook.com</cp:lastModifiedBy>
  <cp:revision>2</cp:revision>
  <dcterms:created xsi:type="dcterms:W3CDTF">2013-01-27T09:14:16Z</dcterms:created>
  <dcterms:modified xsi:type="dcterms:W3CDTF">2026-09-05T03:46:48Z</dcterms:modified>
  <cp:category/>
</cp:coreProperties>
</file>